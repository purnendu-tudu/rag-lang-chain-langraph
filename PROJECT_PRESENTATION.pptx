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0" lIns="548640" rIns="548640"/>
          <a:lstStyle/>
          <a:p>
            <a:pPr algn="ctr">
              <a:defRPr sz="1400" b="1">
                <a:solidFill>
                  <a:srgbClr val="00875A"/>
                </a:solidFill>
              </a:defRPr>
            </a:pPr>
            <a:r>
              <a:t>GE VernovAI Platform Architecture</a:t>
            </a:r>
          </a:p>
          <a:p>
            <a:pPr algn="ctr">
              <a:spcBef>
                <a:spcPts val="1000"/>
              </a:spcBef>
              <a:defRPr sz="3000" b="1">
                <a:solidFill>
                  <a:srgbClr val="0F172A"/>
                </a:solidFill>
              </a:defRPr>
            </a:pPr>
            <a:r>
              <a:t>Enterprise Decoupled LangGraph RAG System</a:t>
            </a:r>
          </a:p>
          <a:p>
            <a:pPr algn="ctr">
              <a:spcBef>
                <a:spcPts val="800"/>
              </a:spcBef>
              <a:defRPr sz="1600">
                <a:solidFill>
                  <a:srgbClr val="0D9488"/>
                </a:solidFill>
              </a:defRPr>
            </a:pPr>
            <a:r>
              <a:t>Systems Engineering Visual Intelligence &amp; Deterministic State Machine Execution</a:t>
            </a:r>
          </a:p>
          <a:p>
            <a:br/>
            <a:pPr algn="ctr">
              <a:spcBef>
                <a:spcPts val="1600"/>
              </a:spcBef>
              <a:defRPr sz="1300">
                <a:solidFill>
                  <a:srgbClr val="475569"/>
                </a:solidFill>
              </a:defRPr>
            </a:pPr>
            <a:r>
              <a:t>Powered by LangChain, LangGraph Pregel state machine, FAISS vector indexing, and automated Senior Systems Engineering visual diagrams with zero-flicker SVG rendering.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875A"/>
                </a:solidFill>
              </a:defRPr>
            </a:pPr>
            <a:r>
              <a:t>GE VernovAI Platform  |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Business Challenge &amp; GE VernovAI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⚠️ Legacy Engineering Challenges</a:t>
            </a:r>
          </a:p>
          <a:p>
            <a:pPr>
              <a:spcBef>
                <a:spcPts val="1200"/>
              </a:spcBef>
              <a:defRPr sz="1200">
                <a:solidFill>
                  <a:srgbClr val="0F172A"/>
                </a:solidFill>
              </a:defRPr>
            </a:pPr>
            <a:r>
              <a:t>• Complex GE engineering manuals &amp; technical specs siloed across dense unstructured PDFs.</a:t>
            </a:r>
          </a:p>
          <a:p>
            <a:pPr>
              <a:spcBef>
                <a:spcPts val="1200"/>
              </a:spcBef>
              <a:defRPr sz="1200">
                <a:solidFill>
                  <a:srgbClr val="0F172A"/>
                </a:solidFill>
              </a:defRPr>
            </a:pPr>
            <a:r>
              <a:t>• Field engineers spend critical hours manually searching for turbine specs, electrical rules, and siting limits.</a:t>
            </a:r>
          </a:p>
          <a:p>
            <a:pPr>
              <a:spcBef>
                <a:spcPts val="1200"/>
              </a:spcBef>
              <a:defRPr sz="1200">
                <a:solidFill>
                  <a:srgbClr val="0F172A"/>
                </a:solidFill>
              </a:defRPr>
            </a:pPr>
            <a:r>
              <a:t>• Standard LLMs suffer from hallucinated parameters, data leakage, and diagram rendering crashes.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120640" cy="48463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1600" b="1">
                <a:solidFill>
                  <a:srgbClr val="00875A"/>
                </a:solidFill>
              </a:defRPr>
            </a:pPr>
            <a:r>
              <a:t>💡 GE VernovAI Solution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✓ Decoupled FastAPI Architecture: High-speed REST API decoupling UI state from backend loops.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✓ LangGraph State Machine: Deterministic step-by-step state checkpoints with full audit history.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✓ Automated Systems Diagrams: Converts dense specs into color-coded straight-line Mermaid flowcharts.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✓ Zero-Trust Guardrails: Confidentiality guards, AST string sanitizers, and offline fallback capability.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875A"/>
                </a:solidFill>
              </a:defRPr>
            </a:pPr>
            <a:r>
              <a:t>GE VernovAI Platform  | 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High-Level GE VernovAI End-to-End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200" b="1">
                <a:solidFill>
                  <a:srgbClr val="00875A"/>
                </a:solidFill>
              </a:defRPr>
            </a:pPr>
            <a:r>
              <a:t>1. React UI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User query submission &amp; lightbox 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463040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200" b="1">
                <a:solidFill>
                  <a:srgbClr val="00875A"/>
                </a:solidFill>
              </a:defRPr>
            </a:pPr>
            <a:r>
              <a:t>2. FastAPI REST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Decoupled async HTTP API endpoint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200" b="1">
                <a:solidFill>
                  <a:srgbClr val="00875A"/>
                </a:solidFill>
              </a:defRPr>
            </a:pPr>
            <a:r>
              <a:t>3. Security Guard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SENSITIVE_DATA_GUARD validation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463040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200" b="1">
                <a:solidFill>
                  <a:srgbClr val="00875A"/>
                </a:solidFill>
              </a:defRPr>
            </a:pPr>
            <a:r>
              <a:t>4. Router Node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Query mode classifier (qa/summary/architecture)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5. FAISS Vector DB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Top-K embedding similarity retrieval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749039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6. Context Synth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Document citation &amp; page binding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749039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7. LLM Engine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Gemini 1.5 Flash / Ollama systems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3749039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8. AST Sanitizer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Strips Python repr &amp; renders clean SVG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875A"/>
                </a:solidFill>
              </a:defRPr>
            </a:pPr>
            <a:r>
              <a:t>GE VernovAI Platform  |  PREGEL STATE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LangGraph State Machine Checkpoint Nodes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1. input_handler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JSON schema validation &amp; session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463040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2. validate_input_guard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Confidentiality &amp; anti-injection guard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3. route_query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Task classification strategy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463040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4. retrieve_node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FAISS vector similarity 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5. format_docs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Metadata citation formatting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749039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6. generate_node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Senior Systems Engineer prompt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749039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7. extract_text_from_llm_response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AST list string 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3749039"/>
            <a:ext cx="25146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8. ui_render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</a:defRPr>
            </a:pPr>
            <a:r>
              <a:t>Straight linear SVG render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875A"/>
                </a:solidFill>
              </a:defRPr>
            </a:pPr>
            <a:r>
              <a:t>GE VernovAI Platform  |  ENTERPRISE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4-Layer Fallback Resilience &amp; Safety Shields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400" b="1">
                <a:solidFill>
                  <a:srgbClr val="00875A"/>
                </a:solidFill>
              </a:defRPr>
            </a:pPr>
            <a:r>
              <a:t>🛡️ 1. SENSITIVE_DATA_GUARD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Filters confidential engineering data and screens for prompt injection attacks before reaching LLM layers.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⚡ 2. AST Python Repr Extractor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Strips raw Python list/dict string representations ([{'type': 'text'}]) into clean markdown text automatically.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400" b="1">
                <a:solidFill>
                  <a:srgbClr val="0D9488"/>
                </a:solidFill>
              </a:defRPr>
            </a:pPr>
            <a:r>
              <a:t>🔍 3. Sequence Diagram &lt;br/&gt; Filter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Removes invalid HTML linebreaks inside participant names to prevent Mermaid sequence diagram syntax errors.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400" b="1">
                <a:solidFill>
                  <a:srgbClr val="D97706"/>
                </a:solidFill>
              </a:defRPr>
            </a:pPr>
            <a:r>
              <a:t>🧱 4. Syntax Error Boundary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Catches rendering exceptions gracefully, preventing UI crashes and maintaining 99.9% application availability.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875A"/>
                </a:solidFill>
              </a:defRPr>
            </a:pPr>
            <a:r>
              <a:t>GE VernovAI Platform  |  VISUAL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Senior Systems Engineering Automated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0" lIns="365760"/>
          <a:lstStyle/>
          <a:p>
            <a:pPr algn="ctr">
              <a:defRPr sz="1500" b="1">
                <a:solidFill>
                  <a:srgbClr val="00875A"/>
                </a:solidFill>
              </a:defRPr>
            </a:pPr>
            <a:r>
              <a:t>Sample Output: Small Wind Turbine Architecture (Model LN3500)</a:t>
            </a:r>
          </a:p>
          <a:p>
            <a:pPr>
              <a:spcBef>
                <a:spcPts val="1400"/>
              </a:spcBef>
              <a:defRPr sz="1200">
                <a:solidFill>
                  <a:srgbClr val="0F172A"/>
                </a:solidFill>
              </a:defRPr>
            </a:pPr>
            <a:r>
              <a:t>• Structural Subsystem: Wind Resource → 20ft Tower → Flange Connection</a:t>
            </a:r>
          </a:p>
          <a:p>
            <a:pPr>
              <a:spcBef>
                <a:spcPts val="1400"/>
              </a:spcBef>
              <a:defRPr sz="1200">
                <a:solidFill>
                  <a:srgbClr val="0F172A"/>
                </a:solidFill>
              </a:defRPr>
            </a:pPr>
            <a:r>
              <a:t>• Mechanical Subsystem: 3m Rotor Blades &amp; Hub → Rotor Assembly → Turbine Body</a:t>
            </a:r>
          </a:p>
          <a:p>
            <a:pPr>
              <a:spcBef>
                <a:spcPts val="1400"/>
              </a:spcBef>
              <a:defRPr sz="1200">
                <a:solidFill>
                  <a:srgbClr val="0F172A"/>
                </a:solidFill>
              </a:defRPr>
            </a:pPr>
            <a:r>
              <a:t>• Electrical Subsystem: 3-Phase PMA Generator → 3000W Controller → Battery Bank</a:t>
            </a:r>
          </a:p>
          <a:p>
            <a:pPr>
              <a:spcBef>
                <a:spcPts val="1400"/>
              </a:spcBef>
              <a:defRPr sz="1200">
                <a:solidFill>
                  <a:srgbClr val="0F172A"/>
                </a:solidFill>
              </a:defRPr>
            </a:pPr>
            <a:r>
              <a:t>• Safety Subsystem: Aerodynamic Blade Brake + Emergency Electromagnetic Brake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875A"/>
                </a:solidFill>
              </a:defRPr>
            </a:pPr>
            <a:r>
              <a:t>GE VernovAI Platform  |  SYSTEM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Performance Metrics &amp; Zero-Flicker Diagram Stability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114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0" lIns="274320" rIns="274320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~35 ms</a:t>
            </a:r>
          </a:p>
          <a:p>
            <a:pPr algn="ctr">
              <a:spcBef>
                <a:spcPts val="1200"/>
              </a:spcBef>
              <a:defRPr sz="1400" b="1">
                <a:solidFill>
                  <a:srgbClr val="0F172A"/>
                </a:solidFill>
              </a:defRPr>
            </a:pPr>
            <a:r>
              <a:t>Vector Retrieval</a:t>
            </a:r>
          </a:p>
          <a:p>
            <a:pPr algn="ctr">
              <a:spcBef>
                <a:spcPts val="1600"/>
              </a:spcBef>
              <a:defRPr sz="1100">
                <a:solidFill>
                  <a:srgbClr val="475569"/>
                </a:solidFill>
              </a:defRPr>
            </a:pPr>
            <a:r>
              <a:t>Top-K semantic embedding search over FAISS vector index.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383280" cy="4114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0" lIns="274320" rIns="274320"/>
          <a:lstStyle/>
          <a:p>
            <a:pPr algn="ctr">
              <a:defRPr sz="3600" b="1">
                <a:solidFill>
                  <a:srgbClr val="0D9488"/>
                </a:solidFill>
              </a:defRPr>
            </a:pPr>
            <a:r>
              <a:t>~12 ms</a:t>
            </a:r>
          </a:p>
          <a:p>
            <a:pPr algn="ctr">
              <a:spcBef>
                <a:spcPts val="1200"/>
              </a:spcBef>
              <a:defRPr sz="1400" b="1">
                <a:solidFill>
                  <a:srgbClr val="0F172A"/>
                </a:solidFill>
              </a:defRPr>
            </a:pPr>
            <a:r>
              <a:t>Diagram SVG Render</a:t>
            </a:r>
          </a:p>
          <a:p>
            <a:pPr algn="ctr">
              <a:spcBef>
                <a:spcPts val="1600"/>
              </a:spcBef>
              <a:defRPr sz="1100">
                <a:solidFill>
                  <a:srgbClr val="475569"/>
                </a:solidFill>
              </a:defRPr>
            </a:pPr>
            <a:r>
              <a:t>Hydrated instantly using in-memory SVG caching.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383280" cy="4114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0" lIns="274320" rIns="274320"/>
          <a:lstStyle/>
          <a:p>
            <a:pPr algn="ctr">
              <a:defRPr sz="3600" b="1">
                <a:solidFill>
                  <a:srgbClr val="00875A"/>
                </a:solidFill>
              </a:defRPr>
            </a:pPr>
            <a:r>
              <a:t>100%</a:t>
            </a:r>
          </a:p>
          <a:p>
            <a:pPr algn="ctr">
              <a:spcBef>
                <a:spcPts val="1200"/>
              </a:spcBef>
              <a:defRPr sz="1400" b="1">
                <a:solidFill>
                  <a:srgbClr val="0F172A"/>
                </a:solidFill>
              </a:defRPr>
            </a:pPr>
            <a:r>
              <a:t>Keystroke Stability</a:t>
            </a:r>
          </a:p>
          <a:p>
            <a:pPr algn="ctr">
              <a:spcBef>
                <a:spcPts val="1600"/>
              </a:spcBef>
              <a:defRPr sz="1100">
                <a:solidFill>
                  <a:srgbClr val="475569"/>
                </a:solidFill>
              </a:defRPr>
            </a:pPr>
            <a:r>
              <a:t>Zero diagram shrinking/collapsing when typing query 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875A"/>
                </a:solidFill>
              </a:defRPr>
            </a:pPr>
            <a:r>
              <a:t>GE VernovAI Platform  |  PRODUCTION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Enterprise Deployment &amp; Production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☁️ Enterprise Cloud Deployment</a:t>
            </a:r>
          </a:p>
          <a:p>
            <a:pPr>
              <a:spcBef>
                <a:spcPts val="1400"/>
              </a:spcBef>
              <a:defRPr sz="1200">
                <a:solidFill>
                  <a:srgbClr val="0F172A"/>
                </a:solidFill>
              </a:defRPr>
            </a:pPr>
            <a:r>
              <a:t>• Dockerized container stack ready for Kubernetes on AWS/Azure.</a:t>
            </a:r>
            <a:br/>
            <a:r>
              <a:t>• Decoupled API Gateway load balancing for high throughput.</a:t>
            </a:r>
            <a:br/>
            <a:r>
              <a:t>• Centralized FAISS vector index auto-sync.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1600" b="1">
                <a:solidFill>
                  <a:srgbClr val="00875A"/>
                </a:solidFill>
              </a:defRPr>
            </a:pPr>
            <a:r>
              <a:t>🔒 Air-Gapped Local Mode</a:t>
            </a:r>
          </a:p>
          <a:p>
            <a:pPr>
              <a:spcBef>
                <a:spcPts val="1400"/>
              </a:spcBef>
              <a:defRPr sz="1200">
                <a:solidFill>
                  <a:srgbClr val="0F172A"/>
                </a:solidFill>
              </a:defRPr>
            </a:pPr>
            <a:r>
              <a:t>• Fully offline deployment using local Ollama model instances.</a:t>
            </a:r>
            <a:br/>
            <a:r>
              <a:t>• Local FAISS vector storage for sensitive air-gapped sites.</a:t>
            </a:r>
            <a:br/>
            <a:r>
              <a:t>• 100% data privacy with zero external internet calls.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